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B60BE-3A93-4045-AF8B-16FD54294BB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E503FAC-3B7C-45BB-97FD-C7B9A28BA547}">
      <dgm:prSet/>
      <dgm:spPr/>
      <dgm:t>
        <a:bodyPr/>
        <a:lstStyle/>
        <a:p>
          <a:r>
            <a:rPr lang="en-US" b="1"/>
            <a:t>1. Multi-Language Support:</a:t>
          </a:r>
          <a:r>
            <a:rPr lang="en-US"/>
            <a:t> Expand analysis beyond English.</a:t>
          </a:r>
        </a:p>
      </dgm:t>
    </dgm:pt>
    <dgm:pt modelId="{5C9316E1-5F6C-4688-8F69-DC182A00CE02}" type="parTrans" cxnId="{2E32AE6C-DAD8-4DD9-A54F-7C855EB84B4C}">
      <dgm:prSet/>
      <dgm:spPr/>
      <dgm:t>
        <a:bodyPr/>
        <a:lstStyle/>
        <a:p>
          <a:endParaRPr lang="en-US"/>
        </a:p>
      </dgm:t>
    </dgm:pt>
    <dgm:pt modelId="{D7FB90A4-966C-4281-977E-74987293A67A}" type="sibTrans" cxnId="{2E32AE6C-DAD8-4DD9-A54F-7C855EB84B4C}">
      <dgm:prSet/>
      <dgm:spPr/>
      <dgm:t>
        <a:bodyPr/>
        <a:lstStyle/>
        <a:p>
          <a:endParaRPr lang="en-US"/>
        </a:p>
      </dgm:t>
    </dgm:pt>
    <dgm:pt modelId="{8B51B4C1-CC3D-43AF-B46C-B73A360B0FF4}">
      <dgm:prSet/>
      <dgm:spPr/>
      <dgm:t>
        <a:bodyPr/>
        <a:lstStyle/>
        <a:p>
          <a:r>
            <a:rPr lang="en-US" b="1"/>
            <a:t>2. Aspect-Based Sentiment Analysis (ABSA):</a:t>
          </a:r>
          <a:r>
            <a:rPr lang="en-US"/>
            <a:t> Pinpoint </a:t>
          </a:r>
          <a:r>
            <a:rPr lang="en-US" i="1"/>
            <a:t>what</a:t>
          </a:r>
          <a:r>
            <a:rPr lang="en-US"/>
            <a:t> specifically is negative (e.g., "The </a:t>
          </a:r>
          <a:r>
            <a:rPr lang="en-US" b="1"/>
            <a:t>graphics</a:t>
          </a:r>
          <a:r>
            <a:rPr lang="en-US"/>
            <a:t> are good, but the </a:t>
          </a:r>
          <a:r>
            <a:rPr lang="en-US" b="1"/>
            <a:t>server performance</a:t>
          </a:r>
          <a:r>
            <a:rPr lang="en-US"/>
            <a:t> is terrible.").</a:t>
          </a:r>
        </a:p>
      </dgm:t>
    </dgm:pt>
    <dgm:pt modelId="{AAE882DC-06D4-4AD7-80C9-CEE5A6B4D6A7}" type="parTrans" cxnId="{521E561A-AD94-4697-8DAB-1C90CECDB35E}">
      <dgm:prSet/>
      <dgm:spPr/>
      <dgm:t>
        <a:bodyPr/>
        <a:lstStyle/>
        <a:p>
          <a:endParaRPr lang="en-US"/>
        </a:p>
      </dgm:t>
    </dgm:pt>
    <dgm:pt modelId="{6EF461ED-8C18-4214-B50A-F94BD9421D15}" type="sibTrans" cxnId="{521E561A-AD94-4697-8DAB-1C90CECDB35E}">
      <dgm:prSet/>
      <dgm:spPr/>
      <dgm:t>
        <a:bodyPr/>
        <a:lstStyle/>
        <a:p>
          <a:endParaRPr lang="en-US"/>
        </a:p>
      </dgm:t>
    </dgm:pt>
    <dgm:pt modelId="{9DDF8249-F2D4-4906-AC75-3A02F5CB46CF}">
      <dgm:prSet/>
      <dgm:spPr/>
      <dgm:t>
        <a:bodyPr/>
        <a:lstStyle/>
        <a:p>
          <a:r>
            <a:rPr lang="en-US" b="1"/>
            <a:t>3. Platform Expansion:</a:t>
          </a:r>
          <a:r>
            <a:rPr lang="en-US"/>
            <a:t> Integrate Reddit, Twitter, and other public feedback sources.</a:t>
          </a:r>
        </a:p>
      </dgm:t>
    </dgm:pt>
    <dgm:pt modelId="{3DF0DA04-9AA7-4582-9D33-8EC5B5387267}" type="parTrans" cxnId="{784E0BF0-D017-45A3-A3FD-6A0343B63DCF}">
      <dgm:prSet/>
      <dgm:spPr/>
      <dgm:t>
        <a:bodyPr/>
        <a:lstStyle/>
        <a:p>
          <a:endParaRPr lang="en-US"/>
        </a:p>
      </dgm:t>
    </dgm:pt>
    <dgm:pt modelId="{C0153448-45BE-47C1-A2BA-76B3FE14347A}" type="sibTrans" cxnId="{784E0BF0-D017-45A3-A3FD-6A0343B63DCF}">
      <dgm:prSet/>
      <dgm:spPr/>
      <dgm:t>
        <a:bodyPr/>
        <a:lstStyle/>
        <a:p>
          <a:endParaRPr lang="en-US"/>
        </a:p>
      </dgm:t>
    </dgm:pt>
    <dgm:pt modelId="{286D3695-4DC3-456C-8F9D-1ECDA7F6D987}">
      <dgm:prSet/>
      <dgm:spPr/>
      <dgm:t>
        <a:bodyPr/>
        <a:lstStyle/>
        <a:p>
          <a:r>
            <a:rPr lang="en-US" b="1"/>
            <a:t>4. Real-Time Dashboard:</a:t>
          </a:r>
          <a:r>
            <a:rPr lang="en-US"/>
            <a:t> Develop a web interface for continuous monitoring and visualization.</a:t>
          </a:r>
        </a:p>
      </dgm:t>
    </dgm:pt>
    <dgm:pt modelId="{7B8061BD-29AF-4111-A68B-B61F16CDBA03}" type="parTrans" cxnId="{1CD60890-0513-423F-82F4-18EFD7236B80}">
      <dgm:prSet/>
      <dgm:spPr/>
      <dgm:t>
        <a:bodyPr/>
        <a:lstStyle/>
        <a:p>
          <a:endParaRPr lang="en-US"/>
        </a:p>
      </dgm:t>
    </dgm:pt>
    <dgm:pt modelId="{233483CC-CB38-435F-B417-B25DE828E2AE}" type="sibTrans" cxnId="{1CD60890-0513-423F-82F4-18EFD7236B80}">
      <dgm:prSet/>
      <dgm:spPr/>
      <dgm:t>
        <a:bodyPr/>
        <a:lstStyle/>
        <a:p>
          <a:endParaRPr lang="en-US"/>
        </a:p>
      </dgm:t>
    </dgm:pt>
    <dgm:pt modelId="{DF8A1881-BE0B-4180-B2D1-E7F16E73CD08}" type="pres">
      <dgm:prSet presAssocID="{5B4B60BE-3A93-4045-AF8B-16FD54294BBC}" presName="root" presStyleCnt="0">
        <dgm:presLayoutVars>
          <dgm:dir/>
          <dgm:resizeHandles val="exact"/>
        </dgm:presLayoutVars>
      </dgm:prSet>
      <dgm:spPr/>
    </dgm:pt>
    <dgm:pt modelId="{6BDFE06B-0B96-4EA9-86EB-3520BC775F64}" type="pres">
      <dgm:prSet presAssocID="{5B4B60BE-3A93-4045-AF8B-16FD54294BBC}" presName="container" presStyleCnt="0">
        <dgm:presLayoutVars>
          <dgm:dir/>
          <dgm:resizeHandles val="exact"/>
        </dgm:presLayoutVars>
      </dgm:prSet>
      <dgm:spPr/>
    </dgm:pt>
    <dgm:pt modelId="{2E16AA76-96BA-4A95-B7D2-DA4819B1189E}" type="pres">
      <dgm:prSet presAssocID="{3E503FAC-3B7C-45BB-97FD-C7B9A28BA547}" presName="compNode" presStyleCnt="0"/>
      <dgm:spPr/>
    </dgm:pt>
    <dgm:pt modelId="{07BC8297-425A-4C46-8279-6F931653E846}" type="pres">
      <dgm:prSet presAssocID="{3E503FAC-3B7C-45BB-97FD-C7B9A28BA547}" presName="iconBgRect" presStyleLbl="bgShp" presStyleIdx="0" presStyleCnt="4"/>
      <dgm:spPr/>
    </dgm:pt>
    <dgm:pt modelId="{2117E7BA-45E9-49D7-841D-517E5D043131}" type="pres">
      <dgm:prSet presAssocID="{3E503FAC-3B7C-45BB-97FD-C7B9A28BA5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65375829-A217-44BC-BBC8-F7F7CB4B8609}" type="pres">
      <dgm:prSet presAssocID="{3E503FAC-3B7C-45BB-97FD-C7B9A28BA547}" presName="spaceRect" presStyleCnt="0"/>
      <dgm:spPr/>
    </dgm:pt>
    <dgm:pt modelId="{5D37C6E0-070D-4E30-AE6E-1CE824DD8721}" type="pres">
      <dgm:prSet presAssocID="{3E503FAC-3B7C-45BB-97FD-C7B9A28BA547}" presName="textRect" presStyleLbl="revTx" presStyleIdx="0" presStyleCnt="4">
        <dgm:presLayoutVars>
          <dgm:chMax val="1"/>
          <dgm:chPref val="1"/>
        </dgm:presLayoutVars>
      </dgm:prSet>
      <dgm:spPr/>
    </dgm:pt>
    <dgm:pt modelId="{6F980226-331F-4435-A05D-040C4EA19411}" type="pres">
      <dgm:prSet presAssocID="{D7FB90A4-966C-4281-977E-74987293A67A}" presName="sibTrans" presStyleLbl="sibTrans2D1" presStyleIdx="0" presStyleCnt="0"/>
      <dgm:spPr/>
    </dgm:pt>
    <dgm:pt modelId="{86DFAA55-5F27-423F-9CE5-A2F20997C4BC}" type="pres">
      <dgm:prSet presAssocID="{8B51B4C1-CC3D-43AF-B46C-B73A360B0FF4}" presName="compNode" presStyleCnt="0"/>
      <dgm:spPr/>
    </dgm:pt>
    <dgm:pt modelId="{843AB0BD-7BAF-4960-B299-8DEDBBE2E57F}" type="pres">
      <dgm:prSet presAssocID="{8B51B4C1-CC3D-43AF-B46C-B73A360B0FF4}" presName="iconBgRect" presStyleLbl="bgShp" presStyleIdx="1" presStyleCnt="4"/>
      <dgm:spPr/>
    </dgm:pt>
    <dgm:pt modelId="{45A1E89D-5AA7-4EEC-8C62-135D3BD979C1}" type="pres">
      <dgm:prSet presAssocID="{8B51B4C1-CC3D-43AF-B46C-B73A360B0F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ACA155A3-AC2F-49A9-8055-D8FE3895C54F}" type="pres">
      <dgm:prSet presAssocID="{8B51B4C1-CC3D-43AF-B46C-B73A360B0FF4}" presName="spaceRect" presStyleCnt="0"/>
      <dgm:spPr/>
    </dgm:pt>
    <dgm:pt modelId="{A03E4364-5D37-4317-9C25-DBF13205DE6A}" type="pres">
      <dgm:prSet presAssocID="{8B51B4C1-CC3D-43AF-B46C-B73A360B0FF4}" presName="textRect" presStyleLbl="revTx" presStyleIdx="1" presStyleCnt="4">
        <dgm:presLayoutVars>
          <dgm:chMax val="1"/>
          <dgm:chPref val="1"/>
        </dgm:presLayoutVars>
      </dgm:prSet>
      <dgm:spPr/>
    </dgm:pt>
    <dgm:pt modelId="{7735077F-DD91-47AB-8DEB-FE5CF20311D0}" type="pres">
      <dgm:prSet presAssocID="{6EF461ED-8C18-4214-B50A-F94BD9421D15}" presName="sibTrans" presStyleLbl="sibTrans2D1" presStyleIdx="0" presStyleCnt="0"/>
      <dgm:spPr/>
    </dgm:pt>
    <dgm:pt modelId="{7A9C01C6-C51E-4240-9EEC-2E75303F0087}" type="pres">
      <dgm:prSet presAssocID="{9DDF8249-F2D4-4906-AC75-3A02F5CB46CF}" presName="compNode" presStyleCnt="0"/>
      <dgm:spPr/>
    </dgm:pt>
    <dgm:pt modelId="{89E45D4B-7E86-4E71-8327-9D8CA374A6D1}" type="pres">
      <dgm:prSet presAssocID="{9DDF8249-F2D4-4906-AC75-3A02F5CB46CF}" presName="iconBgRect" presStyleLbl="bgShp" presStyleIdx="2" presStyleCnt="4"/>
      <dgm:spPr/>
    </dgm:pt>
    <dgm:pt modelId="{5BC5B19E-EFA8-478E-9C66-D31DC10A86D4}" type="pres">
      <dgm:prSet presAssocID="{9DDF8249-F2D4-4906-AC75-3A02F5CB46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0E8B40CA-C8E1-4019-9C27-58A5CBB20554}" type="pres">
      <dgm:prSet presAssocID="{9DDF8249-F2D4-4906-AC75-3A02F5CB46CF}" presName="spaceRect" presStyleCnt="0"/>
      <dgm:spPr/>
    </dgm:pt>
    <dgm:pt modelId="{E56E75B8-6DA2-4F20-AC2E-A45A467153AD}" type="pres">
      <dgm:prSet presAssocID="{9DDF8249-F2D4-4906-AC75-3A02F5CB46CF}" presName="textRect" presStyleLbl="revTx" presStyleIdx="2" presStyleCnt="4">
        <dgm:presLayoutVars>
          <dgm:chMax val="1"/>
          <dgm:chPref val="1"/>
        </dgm:presLayoutVars>
      </dgm:prSet>
      <dgm:spPr/>
    </dgm:pt>
    <dgm:pt modelId="{FD71239F-B0E1-490C-9379-E6BFBAA3D837}" type="pres">
      <dgm:prSet presAssocID="{C0153448-45BE-47C1-A2BA-76B3FE14347A}" presName="sibTrans" presStyleLbl="sibTrans2D1" presStyleIdx="0" presStyleCnt="0"/>
      <dgm:spPr/>
    </dgm:pt>
    <dgm:pt modelId="{31689473-1AF8-4016-834C-FC73C9E0F1A7}" type="pres">
      <dgm:prSet presAssocID="{286D3695-4DC3-456C-8F9D-1ECDA7F6D987}" presName="compNode" presStyleCnt="0"/>
      <dgm:spPr/>
    </dgm:pt>
    <dgm:pt modelId="{E71C15FA-6C13-4264-B050-2CC7F079B3C3}" type="pres">
      <dgm:prSet presAssocID="{286D3695-4DC3-456C-8F9D-1ECDA7F6D987}" presName="iconBgRect" presStyleLbl="bgShp" presStyleIdx="3" presStyleCnt="4"/>
      <dgm:spPr/>
    </dgm:pt>
    <dgm:pt modelId="{E2403F31-D138-434F-879E-2577BCFC97CD}" type="pres">
      <dgm:prSet presAssocID="{286D3695-4DC3-456C-8F9D-1ECDA7F6D98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F2726B1-C6A7-4129-B7A3-6FC358D43CF3}" type="pres">
      <dgm:prSet presAssocID="{286D3695-4DC3-456C-8F9D-1ECDA7F6D987}" presName="spaceRect" presStyleCnt="0"/>
      <dgm:spPr/>
    </dgm:pt>
    <dgm:pt modelId="{85CA590B-0334-459C-AE62-4F48DB566269}" type="pres">
      <dgm:prSet presAssocID="{286D3695-4DC3-456C-8F9D-1ECDA7F6D98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1E561A-AD94-4697-8DAB-1C90CECDB35E}" srcId="{5B4B60BE-3A93-4045-AF8B-16FD54294BBC}" destId="{8B51B4C1-CC3D-43AF-B46C-B73A360B0FF4}" srcOrd="1" destOrd="0" parTransId="{AAE882DC-06D4-4AD7-80C9-CEE5A6B4D6A7}" sibTransId="{6EF461ED-8C18-4214-B50A-F94BD9421D15}"/>
    <dgm:cxn modelId="{1B981727-D05C-4E68-A379-0848FEFAF7DF}" type="presOf" srcId="{C0153448-45BE-47C1-A2BA-76B3FE14347A}" destId="{FD71239F-B0E1-490C-9379-E6BFBAA3D837}" srcOrd="0" destOrd="0" presId="urn:microsoft.com/office/officeart/2018/2/layout/IconCircleList"/>
    <dgm:cxn modelId="{816D1A27-3991-4D86-AFD5-9FFBEC13AFB9}" type="presOf" srcId="{D7FB90A4-966C-4281-977E-74987293A67A}" destId="{6F980226-331F-4435-A05D-040C4EA19411}" srcOrd="0" destOrd="0" presId="urn:microsoft.com/office/officeart/2018/2/layout/IconCircleList"/>
    <dgm:cxn modelId="{B9D7E962-E3F3-4687-9E76-A5F9EBC7308F}" type="presOf" srcId="{9DDF8249-F2D4-4906-AC75-3A02F5CB46CF}" destId="{E56E75B8-6DA2-4F20-AC2E-A45A467153AD}" srcOrd="0" destOrd="0" presId="urn:microsoft.com/office/officeart/2018/2/layout/IconCircleList"/>
    <dgm:cxn modelId="{2E32AE6C-DAD8-4DD9-A54F-7C855EB84B4C}" srcId="{5B4B60BE-3A93-4045-AF8B-16FD54294BBC}" destId="{3E503FAC-3B7C-45BB-97FD-C7B9A28BA547}" srcOrd="0" destOrd="0" parTransId="{5C9316E1-5F6C-4688-8F69-DC182A00CE02}" sibTransId="{D7FB90A4-966C-4281-977E-74987293A67A}"/>
    <dgm:cxn modelId="{5343CE7A-94F5-433E-ADA8-B7026D7FECC4}" type="presOf" srcId="{6EF461ED-8C18-4214-B50A-F94BD9421D15}" destId="{7735077F-DD91-47AB-8DEB-FE5CF20311D0}" srcOrd="0" destOrd="0" presId="urn:microsoft.com/office/officeart/2018/2/layout/IconCircleList"/>
    <dgm:cxn modelId="{1CD60890-0513-423F-82F4-18EFD7236B80}" srcId="{5B4B60BE-3A93-4045-AF8B-16FD54294BBC}" destId="{286D3695-4DC3-456C-8F9D-1ECDA7F6D987}" srcOrd="3" destOrd="0" parTransId="{7B8061BD-29AF-4111-A68B-B61F16CDBA03}" sibTransId="{233483CC-CB38-435F-B417-B25DE828E2AE}"/>
    <dgm:cxn modelId="{882726A9-D538-4091-BA35-81D72B70F53F}" type="presOf" srcId="{8B51B4C1-CC3D-43AF-B46C-B73A360B0FF4}" destId="{A03E4364-5D37-4317-9C25-DBF13205DE6A}" srcOrd="0" destOrd="0" presId="urn:microsoft.com/office/officeart/2018/2/layout/IconCircleList"/>
    <dgm:cxn modelId="{341408DA-7FBD-4913-993C-6FD36785EC6D}" type="presOf" srcId="{286D3695-4DC3-456C-8F9D-1ECDA7F6D987}" destId="{85CA590B-0334-459C-AE62-4F48DB566269}" srcOrd="0" destOrd="0" presId="urn:microsoft.com/office/officeart/2018/2/layout/IconCircleList"/>
    <dgm:cxn modelId="{B21478E7-A4E2-4054-979E-037E3DD161EB}" type="presOf" srcId="{3E503FAC-3B7C-45BB-97FD-C7B9A28BA547}" destId="{5D37C6E0-070D-4E30-AE6E-1CE824DD8721}" srcOrd="0" destOrd="0" presId="urn:microsoft.com/office/officeart/2018/2/layout/IconCircleList"/>
    <dgm:cxn modelId="{784E0BF0-D017-45A3-A3FD-6A0343B63DCF}" srcId="{5B4B60BE-3A93-4045-AF8B-16FD54294BBC}" destId="{9DDF8249-F2D4-4906-AC75-3A02F5CB46CF}" srcOrd="2" destOrd="0" parTransId="{3DF0DA04-9AA7-4582-9D33-8EC5B5387267}" sibTransId="{C0153448-45BE-47C1-A2BA-76B3FE14347A}"/>
    <dgm:cxn modelId="{9C36CBFB-D17D-4626-8BBE-894FD11BC109}" type="presOf" srcId="{5B4B60BE-3A93-4045-AF8B-16FD54294BBC}" destId="{DF8A1881-BE0B-4180-B2D1-E7F16E73CD08}" srcOrd="0" destOrd="0" presId="urn:microsoft.com/office/officeart/2018/2/layout/IconCircleList"/>
    <dgm:cxn modelId="{731ACF6C-9506-4617-B0B0-617EFABF7E9D}" type="presParOf" srcId="{DF8A1881-BE0B-4180-B2D1-E7F16E73CD08}" destId="{6BDFE06B-0B96-4EA9-86EB-3520BC775F64}" srcOrd="0" destOrd="0" presId="urn:microsoft.com/office/officeart/2018/2/layout/IconCircleList"/>
    <dgm:cxn modelId="{005380AC-F125-4950-84AA-FC2570625C22}" type="presParOf" srcId="{6BDFE06B-0B96-4EA9-86EB-3520BC775F64}" destId="{2E16AA76-96BA-4A95-B7D2-DA4819B1189E}" srcOrd="0" destOrd="0" presId="urn:microsoft.com/office/officeart/2018/2/layout/IconCircleList"/>
    <dgm:cxn modelId="{3969F4AE-93D6-4BBB-942F-C45F242E5A9D}" type="presParOf" srcId="{2E16AA76-96BA-4A95-B7D2-DA4819B1189E}" destId="{07BC8297-425A-4C46-8279-6F931653E846}" srcOrd="0" destOrd="0" presId="urn:microsoft.com/office/officeart/2018/2/layout/IconCircleList"/>
    <dgm:cxn modelId="{0C9F521E-B4D4-4A40-9469-7DF97DF3690D}" type="presParOf" srcId="{2E16AA76-96BA-4A95-B7D2-DA4819B1189E}" destId="{2117E7BA-45E9-49D7-841D-517E5D043131}" srcOrd="1" destOrd="0" presId="urn:microsoft.com/office/officeart/2018/2/layout/IconCircleList"/>
    <dgm:cxn modelId="{F6045AAD-4265-440D-B23C-BC83E1221998}" type="presParOf" srcId="{2E16AA76-96BA-4A95-B7D2-DA4819B1189E}" destId="{65375829-A217-44BC-BBC8-F7F7CB4B8609}" srcOrd="2" destOrd="0" presId="urn:microsoft.com/office/officeart/2018/2/layout/IconCircleList"/>
    <dgm:cxn modelId="{772515F9-D770-459A-8D78-FB19EFE09745}" type="presParOf" srcId="{2E16AA76-96BA-4A95-B7D2-DA4819B1189E}" destId="{5D37C6E0-070D-4E30-AE6E-1CE824DD8721}" srcOrd="3" destOrd="0" presId="urn:microsoft.com/office/officeart/2018/2/layout/IconCircleList"/>
    <dgm:cxn modelId="{FA88BE4F-E5B0-4169-A8BB-67A3AC0D5662}" type="presParOf" srcId="{6BDFE06B-0B96-4EA9-86EB-3520BC775F64}" destId="{6F980226-331F-4435-A05D-040C4EA19411}" srcOrd="1" destOrd="0" presId="urn:microsoft.com/office/officeart/2018/2/layout/IconCircleList"/>
    <dgm:cxn modelId="{D9E4566A-18DB-4D76-B88D-FB915A1718F6}" type="presParOf" srcId="{6BDFE06B-0B96-4EA9-86EB-3520BC775F64}" destId="{86DFAA55-5F27-423F-9CE5-A2F20997C4BC}" srcOrd="2" destOrd="0" presId="urn:microsoft.com/office/officeart/2018/2/layout/IconCircleList"/>
    <dgm:cxn modelId="{3CD49FB5-0093-4675-99F5-03FBE572D618}" type="presParOf" srcId="{86DFAA55-5F27-423F-9CE5-A2F20997C4BC}" destId="{843AB0BD-7BAF-4960-B299-8DEDBBE2E57F}" srcOrd="0" destOrd="0" presId="urn:microsoft.com/office/officeart/2018/2/layout/IconCircleList"/>
    <dgm:cxn modelId="{B7AD5AF5-103F-4A69-93A1-4452B6927AA7}" type="presParOf" srcId="{86DFAA55-5F27-423F-9CE5-A2F20997C4BC}" destId="{45A1E89D-5AA7-4EEC-8C62-135D3BD979C1}" srcOrd="1" destOrd="0" presId="urn:microsoft.com/office/officeart/2018/2/layout/IconCircleList"/>
    <dgm:cxn modelId="{0EC50D83-02D1-44CB-9695-663C62AA51D2}" type="presParOf" srcId="{86DFAA55-5F27-423F-9CE5-A2F20997C4BC}" destId="{ACA155A3-AC2F-49A9-8055-D8FE3895C54F}" srcOrd="2" destOrd="0" presId="urn:microsoft.com/office/officeart/2018/2/layout/IconCircleList"/>
    <dgm:cxn modelId="{479028EF-269B-4AD8-BB61-7B43E8F0B7BE}" type="presParOf" srcId="{86DFAA55-5F27-423F-9CE5-A2F20997C4BC}" destId="{A03E4364-5D37-4317-9C25-DBF13205DE6A}" srcOrd="3" destOrd="0" presId="urn:microsoft.com/office/officeart/2018/2/layout/IconCircleList"/>
    <dgm:cxn modelId="{DAE2E8AF-8FF8-49E2-B282-8BA9D3488A7C}" type="presParOf" srcId="{6BDFE06B-0B96-4EA9-86EB-3520BC775F64}" destId="{7735077F-DD91-47AB-8DEB-FE5CF20311D0}" srcOrd="3" destOrd="0" presId="urn:microsoft.com/office/officeart/2018/2/layout/IconCircleList"/>
    <dgm:cxn modelId="{3B6F178A-9834-4CAA-AC26-3EF52AF57417}" type="presParOf" srcId="{6BDFE06B-0B96-4EA9-86EB-3520BC775F64}" destId="{7A9C01C6-C51E-4240-9EEC-2E75303F0087}" srcOrd="4" destOrd="0" presId="urn:microsoft.com/office/officeart/2018/2/layout/IconCircleList"/>
    <dgm:cxn modelId="{676D21F5-1C47-4534-B67D-BED4F855C2B5}" type="presParOf" srcId="{7A9C01C6-C51E-4240-9EEC-2E75303F0087}" destId="{89E45D4B-7E86-4E71-8327-9D8CA374A6D1}" srcOrd="0" destOrd="0" presId="urn:microsoft.com/office/officeart/2018/2/layout/IconCircleList"/>
    <dgm:cxn modelId="{07660452-E61D-403D-BE38-5EDE84A918E9}" type="presParOf" srcId="{7A9C01C6-C51E-4240-9EEC-2E75303F0087}" destId="{5BC5B19E-EFA8-478E-9C66-D31DC10A86D4}" srcOrd="1" destOrd="0" presId="urn:microsoft.com/office/officeart/2018/2/layout/IconCircleList"/>
    <dgm:cxn modelId="{4841A426-3DF3-4DE6-9D65-236A60822264}" type="presParOf" srcId="{7A9C01C6-C51E-4240-9EEC-2E75303F0087}" destId="{0E8B40CA-C8E1-4019-9C27-58A5CBB20554}" srcOrd="2" destOrd="0" presId="urn:microsoft.com/office/officeart/2018/2/layout/IconCircleList"/>
    <dgm:cxn modelId="{26C1B2DC-590F-4062-B5F4-D85C870B7574}" type="presParOf" srcId="{7A9C01C6-C51E-4240-9EEC-2E75303F0087}" destId="{E56E75B8-6DA2-4F20-AC2E-A45A467153AD}" srcOrd="3" destOrd="0" presId="urn:microsoft.com/office/officeart/2018/2/layout/IconCircleList"/>
    <dgm:cxn modelId="{8B04E51C-BEB8-43AC-B3EE-4D57145691F8}" type="presParOf" srcId="{6BDFE06B-0B96-4EA9-86EB-3520BC775F64}" destId="{FD71239F-B0E1-490C-9379-E6BFBAA3D837}" srcOrd="5" destOrd="0" presId="urn:microsoft.com/office/officeart/2018/2/layout/IconCircleList"/>
    <dgm:cxn modelId="{F6B867E6-1B3A-4FE7-9857-AB36A6B93B63}" type="presParOf" srcId="{6BDFE06B-0B96-4EA9-86EB-3520BC775F64}" destId="{31689473-1AF8-4016-834C-FC73C9E0F1A7}" srcOrd="6" destOrd="0" presId="urn:microsoft.com/office/officeart/2018/2/layout/IconCircleList"/>
    <dgm:cxn modelId="{98911B8E-8A86-45C6-A80D-026353EBA87D}" type="presParOf" srcId="{31689473-1AF8-4016-834C-FC73C9E0F1A7}" destId="{E71C15FA-6C13-4264-B050-2CC7F079B3C3}" srcOrd="0" destOrd="0" presId="urn:microsoft.com/office/officeart/2018/2/layout/IconCircleList"/>
    <dgm:cxn modelId="{4340C136-A058-4B65-AA9A-3151607D0E3E}" type="presParOf" srcId="{31689473-1AF8-4016-834C-FC73C9E0F1A7}" destId="{E2403F31-D138-434F-879E-2577BCFC97CD}" srcOrd="1" destOrd="0" presId="urn:microsoft.com/office/officeart/2018/2/layout/IconCircleList"/>
    <dgm:cxn modelId="{DFB618AC-B804-4D0A-A375-819C3DA024DC}" type="presParOf" srcId="{31689473-1AF8-4016-834C-FC73C9E0F1A7}" destId="{7F2726B1-C6A7-4129-B7A3-6FC358D43CF3}" srcOrd="2" destOrd="0" presId="urn:microsoft.com/office/officeart/2018/2/layout/IconCircleList"/>
    <dgm:cxn modelId="{26F17CE5-CE22-404C-92FD-C5E2CB195561}" type="presParOf" srcId="{31689473-1AF8-4016-834C-FC73C9E0F1A7}" destId="{85CA590B-0334-459C-AE62-4F48DB56626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C8297-425A-4C46-8279-6F931653E846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7E7BA-45E9-49D7-841D-517E5D04313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7C6E0-070D-4E30-AE6E-1CE824DD8721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Multi-Language Support:</a:t>
          </a:r>
          <a:r>
            <a:rPr lang="en-US" sz="1700" kern="1200"/>
            <a:t> Expand analysis beyond English.</a:t>
          </a:r>
        </a:p>
      </dsp:txBody>
      <dsp:txXfrm>
        <a:off x="1948202" y="368029"/>
        <a:ext cx="3233964" cy="1371985"/>
      </dsp:txXfrm>
    </dsp:sp>
    <dsp:sp modelId="{843AB0BD-7BAF-4960-B299-8DEDBBE2E57F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1E89D-5AA7-4EEC-8C62-135D3BD979C1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E4364-5D37-4317-9C25-DBF13205DE6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Aspect-Based Sentiment Analysis (ABSA):</a:t>
          </a:r>
          <a:r>
            <a:rPr lang="en-US" sz="1700" kern="1200"/>
            <a:t> Pinpoint </a:t>
          </a:r>
          <a:r>
            <a:rPr lang="en-US" sz="1700" i="1" kern="1200"/>
            <a:t>what</a:t>
          </a:r>
          <a:r>
            <a:rPr lang="en-US" sz="1700" kern="1200"/>
            <a:t> specifically is negative (e.g., "The </a:t>
          </a:r>
          <a:r>
            <a:rPr lang="en-US" sz="1700" b="1" kern="1200"/>
            <a:t>graphics</a:t>
          </a:r>
          <a:r>
            <a:rPr lang="en-US" sz="1700" kern="1200"/>
            <a:t> are good, but the </a:t>
          </a:r>
          <a:r>
            <a:rPr lang="en-US" sz="1700" b="1" kern="1200"/>
            <a:t>server performance</a:t>
          </a:r>
          <a:r>
            <a:rPr lang="en-US" sz="1700" kern="1200"/>
            <a:t> is terrible.").</a:t>
          </a:r>
        </a:p>
      </dsp:txBody>
      <dsp:txXfrm>
        <a:off x="7411643" y="368029"/>
        <a:ext cx="3233964" cy="1371985"/>
      </dsp:txXfrm>
    </dsp:sp>
    <dsp:sp modelId="{89E45D4B-7E86-4E71-8327-9D8CA374A6D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5B19E-EFA8-478E-9C66-D31DC10A86D4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E75B8-6DA2-4F20-AC2E-A45A467153AD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Platform Expansion:</a:t>
          </a:r>
          <a:r>
            <a:rPr lang="en-US" sz="1700" kern="1200"/>
            <a:t> Integrate Reddit, Twitter, and other public feedback sources.</a:t>
          </a:r>
        </a:p>
      </dsp:txBody>
      <dsp:txXfrm>
        <a:off x="1948202" y="2452790"/>
        <a:ext cx="3233964" cy="1371985"/>
      </dsp:txXfrm>
    </dsp:sp>
    <dsp:sp modelId="{E71C15FA-6C13-4264-B050-2CC7F079B3C3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03F31-D138-434F-879E-2577BCFC97CD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A590B-0334-459C-AE62-4F48DB566269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Real-Time Dashboard:</a:t>
          </a:r>
          <a:r>
            <a:rPr lang="en-US" sz="1700" kern="1200"/>
            <a:t> Develop a web interface for continuous monitoring and visualization.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9C95-EDA1-4D63-A54B-1F29E1424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D420E-8F58-80B0-5369-18BB1A61D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336BE-112E-39FD-390F-2D413463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790B3-69CD-9B94-448C-FAEAE55A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5FBF3-BF42-4F4F-AB2A-8D951013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8858-1C5F-86D5-8121-7C0FCE8D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6052-3201-1396-0867-109D6EEAA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F5351-B1D4-4C32-DCFC-24E33429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992F8-B546-8DE3-1236-A78EAF61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AEE4C-2EF1-B277-36A0-A320A3CA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3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E6F7-136B-1835-5EE8-03096D23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6E2A9-240E-C904-ED09-D1C095D4A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5D9E4-F33D-1E26-0ACA-BA356288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66B9-8FE1-4059-DEFF-800FA022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432AB-D4BE-D2C4-9B58-D964665D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6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843A-F7CC-A525-1AEC-F6876CF5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0222-0B66-1CBC-3F8B-57CCBB2B4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DAA21-FE8B-6E43-B750-1E7F188DF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3BD73-EC12-37AA-70A1-10256578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3EB3A-072C-26A0-CA92-3C38968F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3F350-16AA-530D-0D9E-E3B741AD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9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E953-CB07-DB18-8DC5-D0979AC5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E9AF2-FEF1-ECD2-781C-2D6F21093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62539-1AFD-66D1-3320-0BD2D6CB8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67AAB-F8C1-0E0A-373A-2125B7D3A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690D4F-44B0-5C70-4B5D-EDC73E2F0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2389D-C808-DC3F-9E15-4DCF2862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EB6C9-7067-1D9B-07F2-86C3E0FA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F5EF5-8D8E-FBA9-DE7F-34C99028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0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9EA6-F27F-7E72-9F23-D9306DD2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38AD4-D526-7C39-260A-B826CCF7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8E260-D394-52CB-7C69-6A085039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C2921-DE59-E95B-8F22-FDB8CD4E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5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DE953-D392-C20E-535A-3FC506A2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57817-6CCE-D49B-8590-D3D3742F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7B780-5D90-E617-3F35-CA86C17C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9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2388-3CB8-1463-B726-60D02949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2B91A-4F5D-EDD9-891C-1BB1DB38B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78338-1B77-81B4-B6B1-9DE091F9C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523C-3495-1078-DD71-5A058843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1523-43E9-D17A-E332-7D77C1DB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24844-F9AF-1755-DD93-1B17FAC5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1106-1385-519D-D158-2A7F70B7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07B3F-6656-C47A-34C1-65B1D130D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F8680-7A3A-8963-5E1F-243C1853F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FFED4-5D57-4F9B-9228-BA8F8CC5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0101A-9223-F86C-F807-BEFB1262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E85DE-8B5A-A3A3-8CF1-1E7BA240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EBB0-3045-872E-FA84-508C6FBC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E56D-0CC1-E2D9-1CC0-FEC367F9E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C0A8A-4F5A-DF62-C235-B74CFBEB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0701A-C277-3741-4C03-2C1BEDAF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5E05C-77FB-2271-D6CA-80064AB1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1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A7999-CA3E-8379-811A-3CF1E3032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27520-2BD0-4188-0E7B-E6B88AAE8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20CC3-8DDB-9A1A-FDE2-5B5CF98A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1D065-0E40-971B-07C7-C7E57D84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8238-BCF7-7411-39C4-ADEF33D7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08785-60F8-7806-FD17-E137D213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5F88-A1D2-B0AE-BF2D-277B87887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0783-B722-EFCF-F468-DCBB93DF6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983B7-F2C9-4AE1-8877-94BC617C998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8DDCA-B2E1-DE12-A3C5-80271D206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A0D-E14D-25E2-C7D7-B8832B27E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44243-53E4-4A72-80FA-A4107A8D3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B8F73-F6AF-7163-DCBD-F47A8FC96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Comment Analyzer: Automated Feedback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1EE32-E546-A5A9-8FE8-DF2F1EF9E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Buu Hoang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0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A57ED-8F76-AF63-EF81-3BECE8A4B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Problem: Drowning in Feedback</a:t>
            </a:r>
          </a:p>
        </p:txBody>
      </p:sp>
      <p:pic>
        <p:nvPicPr>
          <p:cNvPr id="8" name="Picture 7" descr="Question mark boxes">
            <a:extLst>
              <a:ext uri="{FF2B5EF4-FFF2-40B4-BE49-F238E27FC236}">
                <a16:creationId xmlns:a16="http://schemas.microsoft.com/office/drawing/2014/main" id="{90744D81-B40C-CE41-80D6-1F28F754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30" r="29850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5F1B583-979D-9B22-C0CC-40B4EFD9D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Challenge: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User feedback (YouTube comments, Steam reviews) is high-volume, unstructured, and noisy.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Pain Point: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Manually reviewing feedback is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slow, expensive, and error-prone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 need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automatically and instantly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identify critical, negative sentiment across platforms.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 Users: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Product Managers: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Pinpoint features causing frustration.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Game Developers: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Quickly address critical bugs/balance issues.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Content Creators: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Filter toxicity and understand audience dissatisfaction.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47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02F60-C09F-FBFC-03E5-F2DDFEC9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Solution: Comment Analyzer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6EC758-72D4-7334-8C94-184FBAC5C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What it 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complete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machine learning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that automates the process from data collection to actionable insights.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Core Focus: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Specialized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negative sentiment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faster issue resolution.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Steps (The Pipeline Pattern):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Scrape: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Collect data from YouTube and Steam.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Preprocess: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Clean and normalize noisy text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Classify: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 a deep learning model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DistilBERT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to classify sentiment.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&amp; Report: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Filter highly negative comments and generate reports.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2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4DB27-9652-84DC-D8DE-DA4FE4AC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Technical Architecture: The Three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96DD43-2E8A-973B-FA99-1C1A6DB911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Project Language: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3.8+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 Scraping Module: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Platforms: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YouTube (API v3) and Steam (Public API).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Libraries: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google-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-python-client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steamreviews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Output: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Raw data (text, author, timestamp) into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/data/raw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 Preprocessing Module: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 "messy" comments into clean, standardized text for the ML model.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Key Actions: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Remove URLs/HTML, Expand Contractions, Handle Emojis.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Libraries: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pandas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nltk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3. Sentiment Analysis Module: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Core Model: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DistilBERT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(Lightweight, state-of-the-art transformer).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Classification: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Outputs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confidence score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(0-1) for negative sentiment.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58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8BCA0-5184-7AE7-E917-D1B8A26E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Detailed Data Flow (ETL Pipeline)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497494-EFC0-39B6-94F3-5CE07BFFB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A. Ingestion (Scraping):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Data flows in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YouTube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Steam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B. Transformation (Preprocessing):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Raw text is cleaned, tokenized, and normalized in sequential steps.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C. Classification: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Clean text enters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NegativeSentimentClassifier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DistilBERT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D. Output &amp; Action: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Data is labeled, filtered by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configurable threshold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(default 0.4).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Results are exported to structured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CSV 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in the /results directory.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Focus: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Identifying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Highly Negative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comments ($\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0.8$ score).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2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E1506-BAD6-6191-84D9-C9E3C9AC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Powering the Analysis: AI &amp;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E3D346-71CC-AD46-1A27-E281BB24E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Model Selection: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pre-trained Transformer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distilbert-base-uncased-finetuned-sst-2-english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Benefit: High accuracy with no need for time-consuming custom training.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Efficiency and Scale: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Batch 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Processes large datasets (e.g., 10,000 comments) in chunks.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Hardware Optimization: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 GPU (CUDA)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provides 10x-100x speedup over CPU for large batches.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Customization: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Analysis is driven by a simple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config.yaml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file.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Users can easily adjust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negative_threshold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to tune sensitivity.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12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4394E-1F47-CA78-E286-88BC904A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Actionable Insights &amp; Reporting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AB0766-9385-3A8A-78EA-01B5D6C4A4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End Product: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Not just a classification, but a tool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Comment Categorization: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Highly Negative: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(Score $\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0.8$) $\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rightarrow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$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Immediate Action Required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Moderately Negative: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(Score $0.6-0.8$) $\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rightarrow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$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Investigate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Mildly Negative: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(Score $&lt; 0.6$) $\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rightarrow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$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Monitor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Output Reports: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Three distinct CSV files are generated for triage: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all_comments_classified.csv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negative_comments.csv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highly_negative_comments.csv (The most critical file)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Visualization: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Integration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Matplotlib/Seaborn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for sentiment distribution charts.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4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CE1AE-6270-CDD4-565B-C25C988E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Quick Start: How to 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BB1973A3-D94C-5078-718C-6E216AB660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Simplicity: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entire project runs with a single command.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Step 1: Setup: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pip install -r requirements.txt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Step 2: Configuration: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Set API Key 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.env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Paste Video/Game IDs into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config.yaml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Step 3: Execution: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4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run_automated_analysis.py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b="1" dirty="0"/>
              <a:t>Result:</a:t>
            </a:r>
            <a:r>
              <a:rPr lang="en-US" sz="2400" dirty="0"/>
              <a:t> A full report and summary statistics are printed to the console and saved to disk.</a:t>
            </a:r>
            <a:endParaRPr kumimoji="0" lang="en-US" altLang="en-US" sz="2400" i="1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5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28FA3-7481-EC81-7609-0D6D7EE2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Future Enhancements &amp; Scalability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C6FD06-22A7-F15B-43C0-A0151F890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5869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486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8BFE3-092F-191F-896B-8533EB3F1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Conclusion &amp; Q&amp;A</a:t>
            </a:r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2615F18F-44DD-5D3E-D66B-67DA23555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33" r="25147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61B3B45-DB10-302D-9CCA-6C6539FE4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Key Takeaway: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Comment Analyzer delivers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speed, accuracy, and scalability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turn vast amounts of unstructured feedback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actionable business intelligence.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Project Highlights: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Transfer Learning, Modular Design, GPU Acceleration, Configuration-Driven.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Closing Statement: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 built a robust, easier solution for modern customer feedback analysis.</a:t>
            </a:r>
          </a:p>
        </p:txBody>
      </p:sp>
    </p:spTree>
    <p:extLst>
      <p:ext uri="{BB962C8B-B14F-4D97-AF65-F5344CB8AC3E}">
        <p14:creationId xmlns:p14="http://schemas.microsoft.com/office/powerpoint/2010/main" val="179120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nlh-2</Template>
  <TotalTime>142</TotalTime>
  <Words>854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Google Sans Text</vt:lpstr>
      <vt:lpstr>Office Theme</vt:lpstr>
      <vt:lpstr>Comment Analyzer: Automated Feedback Analysis</vt:lpstr>
      <vt:lpstr>The Problem: Drowning in Feedback</vt:lpstr>
      <vt:lpstr>The Solution: Comment Analyzer Overview</vt:lpstr>
      <vt:lpstr>Technical Architecture: The Three Modules</vt:lpstr>
      <vt:lpstr>Detailed Data Flow (ETL Pipeline)</vt:lpstr>
      <vt:lpstr>Powering the Analysis: AI &amp; Performance</vt:lpstr>
      <vt:lpstr>Actionable Insights &amp; Reporting</vt:lpstr>
      <vt:lpstr>Quick Start: How to Run</vt:lpstr>
      <vt:lpstr>Future Enhancements &amp; Scalability</vt:lpstr>
      <vt:lpstr>Conclusion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Buu (hoangbu)</dc:creator>
  <cp:lastModifiedBy>Hoang, Buu (hoangbu)</cp:lastModifiedBy>
  <cp:revision>5</cp:revision>
  <dcterms:created xsi:type="dcterms:W3CDTF">2025-12-09T19:27:02Z</dcterms:created>
  <dcterms:modified xsi:type="dcterms:W3CDTF">2025-12-09T22:17:54Z</dcterms:modified>
</cp:coreProperties>
</file>